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914400" cy="3657"/>
          </a:xfrm>
          <a:prstGeom prst="rect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3657" cy="914400"/>
          </a:xfrm>
          <a:prstGeom prst="rect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47120" y="6492240"/>
            <a:ext cx="-914400" cy="3657"/>
          </a:xfrm>
          <a:prstGeom prst="rect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23192" y="6492240"/>
            <a:ext cx="-3657" cy="-914400"/>
          </a:xfrm>
          <a:prstGeom prst="rect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hool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645920"/>
            <a:ext cx="105156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让每一份校友成就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7200" b="1">
                <a:solidFill>
                  <a:srgbClr val="E6B450"/>
                </a:solidFill>
                <a:latin typeface="Microsoft YaHei"/>
              </a:defRPr>
            </a:pPr>
            <a:r>
              <a:t>在展览馆中被看见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86200"/>
            <a:ext cx="1097280" cy="4572"/>
          </a:xfrm>
          <a:prstGeom prst="rect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8686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600"/>
              </a:spcAft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校园展览馆校友资料系统 — 从数据采集到AI识别到大屏展示，全链路一体化平台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212080"/>
            <a:ext cx="2286000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6B450"/>
                </a:solidFill>
                <a:latin typeface="Arial"/>
              </a:defRPr>
            </a:pPr>
            <a:r>
              <a:t>SPRING BOOT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5212080"/>
            <a:ext cx="2286000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E8BFF"/>
                </a:solidFill>
                <a:latin typeface="Arial"/>
              </a:defRPr>
            </a:pPr>
            <a:r>
              <a:t>VUE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5212080"/>
            <a:ext cx="2286000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6C5A6"/>
                </a:solidFill>
                <a:latin typeface="Arial"/>
              </a:defRPr>
            </a:pPr>
            <a:r>
              <a:t>AI ARC 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5212080"/>
            <a:ext cx="2286000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99999"/>
                </a:solidFill>
                <a:latin typeface="Arial"/>
              </a:defRPr>
            </a:pPr>
            <a:r>
              <a:t>MYSQL + 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576072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0" b="1">
                <a:solidFill>
                  <a:srgbClr val="181818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00800"/>
            <a:ext cx="11064240" cy="274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44444"/>
                </a:solidFill>
                <a:latin typeface="Arial"/>
              </a:defRPr>
            </a:pPr>
            <a:r>
              <a:t>校园展览馆校友资料系统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64465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444444"/>
                </a:solidFill>
                <a:latin typeface="Arial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E5484D"/>
                </a:solidFill>
                <a:latin typeface="Arial"/>
              </a:defRPr>
            </a:pPr>
            <a:r>
              <a:t>THE PROBLEM &amp;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校友数据管理，从碎片化到一体化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E5484D"/>
                </a:solidFill>
                <a:latin typeface="Microsoft YaHei"/>
              </a:defRPr>
            </a:pPr>
            <a:r>
              <a:t>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4754880" cy="2743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4754880" cy="1143000"/>
          </a:xfrm>
          <a:prstGeom prst="rect">
            <a:avLst/>
          </a:prstGeom>
          <a:solidFill>
            <a:srgbClr val="1A0A0A"/>
          </a:solidFill>
          <a:ln w="6350">
            <a:solidFill>
              <a:srgbClr val="33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87168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数据分散，难以归集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校友成就散落各处——纸质档案、Excel、个人记忆，没有统一入口与标准格式。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4754880" cy="2743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4754880" cy="1143000"/>
          </a:xfrm>
          <a:prstGeom prst="rect">
            <a:avLst/>
          </a:prstGeom>
          <a:solidFill>
            <a:srgbClr val="1A0A0A"/>
          </a:solidFill>
          <a:ln w="6350">
            <a:solidFill>
              <a:srgbClr val="33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67328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展示手段单一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校史馆靠展板＋照片墙，无法动态更新，缺少互动体验和个性化内容呈现。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37760"/>
            <a:ext cx="4754880" cy="2743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937760"/>
            <a:ext cx="4754880" cy="1143000"/>
          </a:xfrm>
          <a:prstGeom prst="rect">
            <a:avLst/>
          </a:prstGeom>
          <a:solidFill>
            <a:srgbClr val="1A0A0A"/>
          </a:solidFill>
          <a:ln w="6350">
            <a:solidFill>
              <a:srgbClr val="33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047488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审核流程缺失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44068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数据质量参差不齐，缺少多级审核与责任追溯，无法保证展览内容的准确性。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828800"/>
            <a:ext cx="3657" cy="43891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8288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6C5A6"/>
                </a:solidFill>
                <a:latin typeface="Microsoft YaHei"/>
              </a:defRPr>
            </a:pPr>
            <a:r>
              <a:t>方案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377440"/>
            <a:ext cx="4754880" cy="2743"/>
          </a:xfrm>
          <a:prstGeom prst="rect">
            <a:avLst/>
          </a:prstGeom>
          <a:solidFill>
            <a:srgbClr val="36C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377440"/>
            <a:ext cx="4754880" cy="1143000"/>
          </a:xfrm>
          <a:prstGeom prst="rect">
            <a:avLst/>
          </a:prstGeom>
          <a:solidFill>
            <a:srgbClr val="0A1A0A"/>
          </a:solidFill>
          <a:ln w="6350">
            <a:solidFill>
              <a:srgbClr val="113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487168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一站式采集入库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8036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Web 表单 + Excel 批量导入，多媒体附件管理，统一归档。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657600"/>
            <a:ext cx="4754880" cy="2743"/>
          </a:xfrm>
          <a:prstGeom prst="rect">
            <a:avLst/>
          </a:prstGeom>
          <a:solidFill>
            <a:srgbClr val="36C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657600"/>
            <a:ext cx="4754880" cy="1143000"/>
          </a:xfrm>
          <a:prstGeom prst="rect">
            <a:avLst/>
          </a:prstGeom>
          <a:solidFill>
            <a:srgbClr val="0A1A0A"/>
          </a:solidFill>
          <a:ln w="6350">
            <a:solidFill>
              <a:srgbClr val="113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767328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沉浸式大屏体验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16052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深空科技风视觉语言，AI 人脸识别自动切换专属内容。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937760"/>
            <a:ext cx="4754880" cy="2743"/>
          </a:xfrm>
          <a:prstGeom prst="rect">
            <a:avLst/>
          </a:prstGeom>
          <a:solidFill>
            <a:srgbClr val="36C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937760"/>
            <a:ext cx="4754880" cy="1143000"/>
          </a:xfrm>
          <a:prstGeom prst="rect">
            <a:avLst/>
          </a:prstGeom>
          <a:solidFill>
            <a:srgbClr val="0A1A0A"/>
          </a:solidFill>
          <a:ln w="6350">
            <a:solidFill>
              <a:srgbClr val="113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047488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多层审核 + 灵活运营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44068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院级→教务处双重把关，驳回必带意见。轮播编排、灵活上下架。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00800"/>
            <a:ext cx="11064240" cy="274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44444"/>
                </a:solidFill>
                <a:latin typeface="Arial"/>
              </a:defRPr>
            </a:pPr>
            <a:r>
              <a:t>校园展览馆校友资料系统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64465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444444"/>
                </a:solidFill>
                <a:latin typeface="Arial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E6B450"/>
                </a:solidFill>
                <a:latin typeface="Arial"/>
              </a:defRPr>
            </a:pPr>
            <a:r>
              <a:t>PRODUCT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校友资料采集→审核→入库→展示</a:t>
            </a:r>
            <a:br/>
            <a:r>
              <a:t>一体化平台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103120"/>
            <a:ext cx="1097280" cy="4572"/>
          </a:xfrm>
          <a:prstGeom prst="rect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377440"/>
            <a:ext cx="7772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覆盖校友管理、资料档案、多级审核、运营上架、大屏展示、AI人脸识别六大模块，为校园展览馆提供全链路数字化解决方案。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1E8B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1E8BFF"/>
                </a:solidFill>
                <a:latin typeface="Microsoft YaHei"/>
              </a:defRPr>
            </a:pPr>
            <a:r>
              <a:t>统一采集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多入口汇聚，标准化字段，</a:t>
            </a:r>
            <a:br/>
            <a:r>
              <a:t>Excel 批量导入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47472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36C5A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3891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36C5A6"/>
                </a:solidFill>
                <a:latin typeface="Microsoft YaHei"/>
              </a:defRPr>
            </a:pPr>
            <a:r>
              <a:t>多层审核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84632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院级 + 教务处双重把关，</a:t>
            </a:r>
            <a:br/>
            <a:r>
              <a:t>完整审计日志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7472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E6B45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E6B450"/>
                </a:solidFill>
                <a:latin typeface="Microsoft YaHei"/>
              </a:defRPr>
            </a:pPr>
            <a:r>
              <a:t>灵活运营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轮播编排、置顶推荐、</a:t>
            </a:r>
            <a:br/>
            <a:r>
              <a:t>上下架管理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47472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8B5CF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3891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AI 赋能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84632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人脸识别自动切换</a:t>
            </a:r>
            <a:br/>
            <a:r>
              <a:t>个性化展览内容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00800"/>
            <a:ext cx="11064240" cy="274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44444"/>
                </a:solidFill>
                <a:latin typeface="Arial"/>
              </a:defRPr>
            </a:pPr>
            <a:r>
              <a:t>校园展览馆校友资料系统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64465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444444"/>
                </a:solidFill>
                <a:latin typeface="Arial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8BFF"/>
                </a:solidFill>
                <a:latin typeface="Arial"/>
              </a:defRPr>
            </a:pPr>
            <a:r>
              <a:t>CORE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从数据采集到展览大屏，全链路闭环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057400" cy="3657600"/>
          </a:xfrm>
          <a:prstGeom prst="rect">
            <a:avLst/>
          </a:prstGeom>
          <a:solidFill>
            <a:srgbClr val="121212"/>
          </a:solidFill>
          <a:ln w="635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057400" cy="9144"/>
          </a:xfrm>
          <a:prstGeom prst="rect">
            <a:avLst/>
          </a:prstGeom>
          <a:solidFill>
            <a:srgbClr val="1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20202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校友录入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手动录入或Excel批量导入，自动关联学院与专业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4747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55555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11680"/>
            <a:ext cx="2057400" cy="3657600"/>
          </a:xfrm>
          <a:prstGeom prst="rect">
            <a:avLst/>
          </a:prstGeom>
          <a:solidFill>
            <a:srgbClr val="121212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2011680"/>
            <a:ext cx="2057400" cy="91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1945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20202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9260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档案归档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47472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创建成长档案，绑定荣誉、作品、成绩等多类型资料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4747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55555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011680"/>
            <a:ext cx="2057400" cy="3657600"/>
          </a:xfrm>
          <a:prstGeom prst="rect">
            <a:avLst/>
          </a:prstGeom>
          <a:solidFill>
            <a:srgbClr val="121212"/>
          </a:solidFill>
          <a:ln w="635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2011680"/>
            <a:ext cx="2057400" cy="9144"/>
          </a:xfrm>
          <a:prstGeom prst="rect">
            <a:avLst/>
          </a:prstGeom>
          <a:solidFill>
            <a:srgbClr val="36C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1945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20202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9260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多级审核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47472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学院初审→教务处终审，驳回必带修改意见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4747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55555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011680"/>
            <a:ext cx="2057400" cy="3657600"/>
          </a:xfrm>
          <a:prstGeom prst="rect">
            <a:avLst/>
          </a:prstGeom>
          <a:solidFill>
            <a:srgbClr val="121212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2011680"/>
            <a:ext cx="2057400" cy="91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1945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20202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9260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运营上架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47472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轮播方案配置，灵活编排展览内容池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4747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55555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011680"/>
            <a:ext cx="2057400" cy="3657600"/>
          </a:xfrm>
          <a:prstGeom prst="rect">
            <a:avLst/>
          </a:prstGeom>
          <a:solidFill>
            <a:srgbClr val="121212"/>
          </a:solidFill>
          <a:ln w="635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2011680"/>
            <a:ext cx="2057400" cy="9144"/>
          </a:xfrm>
          <a:prstGeom prst="rect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21945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20202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9260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大屏展示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3474720"/>
            <a:ext cx="1828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1920×1080 深空科技风，AI 人脸识别互动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400800"/>
            <a:ext cx="11064240" cy="274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44444"/>
                </a:solidFill>
                <a:latin typeface="Arial"/>
              </a:defRPr>
            </a:pPr>
            <a:r>
              <a:t>校园展览馆校友资料系统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64465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444444"/>
                </a:solidFill>
                <a:latin typeface="Arial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6C5A6"/>
                </a:solidFill>
                <a:latin typeface="Arial"/>
              </a:defRPr>
            </a:pPr>
            <a:r>
              <a:t>REVIEW STATE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六态流转，层层把关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1965960" cy="2377440"/>
          </a:xfrm>
          <a:prstGeom prst="rect">
            <a:avLst/>
          </a:prstGeom>
          <a:solidFill>
            <a:srgbClr val="101010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965960" cy="914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草稿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92608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55555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011680"/>
            <a:ext cx="1965960" cy="2377440"/>
          </a:xfrm>
          <a:prstGeom prst="rect">
            <a:avLst/>
          </a:prstGeom>
          <a:solidFill>
            <a:srgbClr val="101010"/>
          </a:solidFill>
          <a:ln w="635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2011680"/>
            <a:ext cx="1965960" cy="9144"/>
          </a:xfrm>
          <a:prstGeom prst="rect">
            <a:avLst/>
          </a:prstGeom>
          <a:solidFill>
            <a:srgbClr val="1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19456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92608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待学院审核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383280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pending_college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92608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55555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011680"/>
            <a:ext cx="1965960" cy="2377440"/>
          </a:xfrm>
          <a:prstGeom prst="rect">
            <a:avLst/>
          </a:prstGeom>
          <a:solidFill>
            <a:srgbClr val="101010"/>
          </a:solidFill>
          <a:ln w="635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2011680"/>
            <a:ext cx="1965960" cy="9144"/>
          </a:xfrm>
          <a:prstGeom prst="rect">
            <a:avLst/>
          </a:prstGeom>
          <a:solidFill>
            <a:srgbClr val="36C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19456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92608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待教务处审核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383280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pending_academic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2608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55555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011680"/>
            <a:ext cx="1965960" cy="2377440"/>
          </a:xfrm>
          <a:prstGeom prst="rect">
            <a:avLst/>
          </a:prstGeom>
          <a:solidFill>
            <a:srgbClr val="101010"/>
          </a:solidFill>
          <a:ln w="6350">
            <a:solidFill>
              <a:srgbClr val="2B5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2011680"/>
            <a:ext cx="1965960" cy="9144"/>
          </a:xfrm>
          <a:prstGeom prst="rect">
            <a:avLst/>
          </a:prstGeom>
          <a:solidFill>
            <a:srgbClr val="2B5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19456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✔️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92608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已入库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383280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approved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92608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55555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011680"/>
            <a:ext cx="1965960" cy="2377440"/>
          </a:xfrm>
          <a:prstGeom prst="rect">
            <a:avLst/>
          </a:prstGeom>
          <a:solidFill>
            <a:srgbClr val="101010"/>
          </a:solidFill>
          <a:ln w="635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92640" y="2011680"/>
            <a:ext cx="1965960" cy="9144"/>
          </a:xfrm>
          <a:prstGeom prst="rect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194560"/>
            <a:ext cx="1965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926080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已上架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383280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published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937760"/>
            <a:ext cx="4572000" cy="502920"/>
          </a:xfrm>
          <a:prstGeom prst="rect">
            <a:avLst/>
          </a:prstGeom>
          <a:solidFill>
            <a:srgbClr val="1A0808"/>
          </a:solidFill>
          <a:ln w="63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5010912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E5484D"/>
                </a:solidFill>
                <a:latin typeface="Microsoft YaHei"/>
              </a:defRPr>
            </a:pPr>
            <a:r>
              <a:t>↩ 任意环节可驳回，必带修改意见，支持退回重提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937760"/>
            <a:ext cx="4572000" cy="502920"/>
          </a:xfrm>
          <a:prstGeom prst="rect">
            <a:avLst/>
          </a:prstGeom>
          <a:solidFill>
            <a:srgbClr val="101008"/>
          </a:solidFill>
          <a:ln w="635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5010912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E6B450"/>
                </a:solidFill>
                <a:latin typeface="Microsoft YaHei"/>
              </a:defRPr>
            </a:pPr>
            <a:r>
              <a:t>🔒 大屏端仅展示已上架 (published) 内容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400800"/>
            <a:ext cx="11064240" cy="274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44444"/>
                </a:solidFill>
                <a:latin typeface="Arial"/>
              </a:defRPr>
            </a:pPr>
            <a:r>
              <a:t>校园展览馆校友资料系统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64465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444444"/>
                </a:solidFill>
                <a:latin typeface="Arial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B5AED"/>
                </a:solidFill>
                <a:latin typeface="Arial"/>
              </a:defRPr>
            </a:pPr>
            <a:r>
              <a:t>MANAGEMENT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管理后台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Vue3 + Element Plus + ECharts。校友/档案CRUD、多级审核工作台、运营配置中心、系统管理。品牌蓝专业体验，清晰高效。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70048"/>
            <a:ext cx="109728" cy="109728"/>
          </a:xfrm>
          <a:prstGeom prst="rect">
            <a:avLst/>
          </a:prstGeom>
          <a:solidFill>
            <a:srgbClr val="1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校友管理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支持 Excel 批量导入、头像上传、学院/专业关联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93008"/>
            <a:ext cx="109728" cy="109728"/>
          </a:xfrm>
          <a:prstGeom prst="rect">
            <a:avLst/>
          </a:prstGeom>
          <a:solidFill>
            <a:srgbClr val="36C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83279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审核工作台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03320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按角色显示待办列表，一键通过/驳回，必填审核意见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15968"/>
            <a:ext cx="109728" cy="109728"/>
          </a:xfrm>
          <a:prstGeom prst="rect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06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运营配置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526279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轮播方案 CRUD、拖拽排序、置顶推荐、灵活上下架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120640"/>
            <a:ext cx="1463040" cy="320040"/>
          </a:xfrm>
          <a:prstGeom prst="rect">
            <a:avLst/>
          </a:prstGeom>
          <a:solidFill>
            <a:srgbClr val="080808"/>
          </a:solidFill>
          <a:ln w="6350">
            <a:solidFill>
              <a:srgbClr val="2B5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14807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2B5AED"/>
                </a:solidFill>
                <a:latin typeface="Arial"/>
              </a:defRPr>
            </a:pPr>
            <a:r>
              <a:t>VUE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5120640"/>
            <a:ext cx="1463040" cy="320040"/>
          </a:xfrm>
          <a:prstGeom prst="rect">
            <a:avLst/>
          </a:prstGeom>
          <a:solidFill>
            <a:srgbClr val="080808"/>
          </a:solidFill>
          <a:ln w="635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514807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1E8BFF"/>
                </a:solidFill>
                <a:latin typeface="Arial"/>
              </a:defRPr>
            </a:pPr>
            <a:r>
              <a:t>ELEMENT PLUS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5120640"/>
            <a:ext cx="1463040" cy="320040"/>
          </a:xfrm>
          <a:prstGeom prst="rect">
            <a:avLst/>
          </a:prstGeom>
          <a:solidFill>
            <a:srgbClr val="080808"/>
          </a:solidFill>
          <a:ln w="635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514807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6C5A6"/>
                </a:solidFill>
                <a:latin typeface="Arial"/>
              </a:defRPr>
            </a:pPr>
            <a:r>
              <a:t>ECHARTS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5120640"/>
            <a:ext cx="1463040" cy="320040"/>
          </a:xfrm>
          <a:prstGeom prst="rect">
            <a:avLst/>
          </a:prstGeom>
          <a:solidFill>
            <a:srgbClr val="08080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514807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PINIA</a:t>
            </a:r>
          </a:p>
        </p:txBody>
      </p:sp>
      <p:pic>
        <p:nvPicPr>
          <p:cNvPr id="22" name="Picture 21" descr="超级管理员主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669280" cy="294743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48640" y="6400800"/>
            <a:ext cx="11064240" cy="274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44444"/>
                </a:solidFill>
                <a:latin typeface="Arial"/>
              </a:defRPr>
            </a:pPr>
            <a:r>
              <a:t>校园展览馆校友资料系统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64465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444444"/>
                </a:solidFill>
                <a:latin typeface="Arial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8BFF"/>
                </a:solidFill>
                <a:latin typeface="Arial"/>
              </a:defRPr>
            </a:pPr>
            <a:r>
              <a:t>BIG SCREEN KIOSK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73152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大屏展示端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独立Vue3工程，深空科技风沉浸式设计。轮播/校友墙/成长轨迹/全文搜索。Chrome Kiosk全屏部署，7×24无人值守。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2560320"/>
            <a:ext cx="2011680" cy="868680"/>
          </a:xfrm>
          <a:prstGeom prst="rect">
            <a:avLst/>
          </a:prstGeom>
          <a:solidFill>
            <a:srgbClr val="080808"/>
          </a:solidFill>
          <a:ln w="635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606039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1E8BFF"/>
                </a:solidFill>
                <a:latin typeface="Arial"/>
              </a:defRPr>
            </a:pPr>
            <a:r>
              <a:t>1920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063239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分辨率基准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2560320"/>
            <a:ext cx="2011680" cy="868680"/>
          </a:xfrm>
          <a:prstGeom prst="rect">
            <a:avLst/>
          </a:prstGeom>
          <a:solidFill>
            <a:srgbClr val="080808"/>
          </a:solidFill>
          <a:ln w="635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2606039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E6B45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063239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展示模式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3657600"/>
            <a:ext cx="2011680" cy="868680"/>
          </a:xfrm>
          <a:prstGeom prst="rect">
            <a:avLst/>
          </a:prstGeom>
          <a:solidFill>
            <a:srgbClr val="080808"/>
          </a:solidFill>
          <a:ln w="635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70332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36C5A6"/>
                </a:solidFill>
                <a:latin typeface="Arial"/>
              </a:defRPr>
            </a:pPr>
            <a:r>
              <a:t>4K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1605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可适配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3657600"/>
            <a:ext cx="2011680" cy="868680"/>
          </a:xfrm>
          <a:prstGeom prst="rect">
            <a:avLst/>
          </a:prstGeom>
          <a:solidFill>
            <a:srgbClr val="080808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370332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8B5CF6"/>
                </a:solidFill>
                <a:latin typeface="Arial"/>
              </a:defRPr>
            </a:pPr>
            <a:r>
              <a:t>KIOSK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1605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部署方式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4937760"/>
            <a:ext cx="1097280" cy="292608"/>
          </a:xfrm>
          <a:prstGeom prst="rect">
            <a:avLst/>
          </a:prstGeom>
          <a:solidFill>
            <a:srgbClr val="080808"/>
          </a:solidFill>
          <a:ln w="635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956048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8BFF"/>
                </a:solidFill>
                <a:latin typeface="Arial"/>
              </a:defRPr>
            </a:pPr>
            <a:r>
              <a:t>VUE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4937760"/>
            <a:ext cx="1097280" cy="292608"/>
          </a:xfrm>
          <a:prstGeom prst="rect">
            <a:avLst/>
          </a:prstGeom>
          <a:solidFill>
            <a:srgbClr val="080808"/>
          </a:solidFill>
          <a:ln w="635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956048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E6B450"/>
                </a:solidFill>
                <a:latin typeface="Arial"/>
              </a:defRPr>
            </a:pPr>
            <a:r>
              <a:t>PARTICLES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4937760"/>
            <a:ext cx="1097280" cy="292608"/>
          </a:xfrm>
          <a:prstGeom prst="rect">
            <a:avLst/>
          </a:prstGeom>
          <a:solidFill>
            <a:srgbClr val="080808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4956048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06B6D4"/>
                </a:solidFill>
                <a:latin typeface="Arial"/>
              </a:defRPr>
            </a:pPr>
            <a:r>
              <a:t>KIOSK MODE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24159" y="4937760"/>
            <a:ext cx="1097280" cy="292608"/>
          </a:xfrm>
          <a:prstGeom prst="rect">
            <a:avLst/>
          </a:prstGeom>
          <a:solidFill>
            <a:srgbClr val="080808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9" y="4956048"/>
            <a:ext cx="1097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99999"/>
                </a:solidFill>
                <a:latin typeface="Arial"/>
              </a:defRPr>
            </a:pPr>
            <a:r>
              <a:t>GLASS</a:t>
            </a:r>
          </a:p>
        </p:txBody>
      </p:sp>
      <p:pic>
        <p:nvPicPr>
          <p:cNvPr id="25" name="Picture 24" descr="screen-大屏默认轮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760720" cy="2994971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48640" y="6400800"/>
            <a:ext cx="11064240" cy="274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44444"/>
                </a:solidFill>
                <a:latin typeface="Arial"/>
              </a:defRPr>
            </a:pPr>
            <a:r>
              <a:t>校园展览馆校友资料系统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64465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444444"/>
                </a:solidFill>
                <a:latin typeface="Arial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E6B450"/>
                </a:solidFill>
                <a:latin typeface="Arial"/>
              </a:defRPr>
            </a:pPr>
            <a:r>
              <a:t>AI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6858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AI 人脸识别 — 让展览认识每一位访客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9144" cy="1051560"/>
          </a:xfrm>
          <a:prstGeom prst="rect">
            <a:avLst/>
          </a:prstGeom>
          <a:solidFill>
            <a:srgbClr val="1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943600" cy="1051560"/>
          </a:xfrm>
          <a:prstGeom prst="rect">
            <a:avLst/>
          </a:prstGeom>
          <a:solidFill>
            <a:srgbClr val="101010"/>
          </a:solidFill>
          <a:ln w="381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10512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📷 摄像头实时采集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大屏一体机外接摄像头，前端做活体检测判断。右下角实时显示「人脸识别就绪」状态指示灯。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71800"/>
            <a:ext cx="9144" cy="1051560"/>
          </a:xfrm>
          <a:prstGeom prst="rect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71800"/>
            <a:ext cx="5943600" cy="1051560"/>
          </a:xfrm>
          <a:prstGeom prst="rect">
            <a:avLst/>
          </a:prstGeom>
          <a:solidFill>
            <a:srgbClr val="101010"/>
          </a:solidFill>
          <a:ln w="381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44952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🔍 ArcFace 特征匹配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2900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Python FastAPI 服务调用虹软SDK，1:N匹配底库。端到端延迟 ≤ 1.5s，置信度阈值可配置。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9144" cy="1051560"/>
          </a:xfrm>
          <a:prstGeom prst="rect">
            <a:avLst/>
          </a:prstGeom>
          <a:solidFill>
            <a:srgbClr val="36C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206240"/>
            <a:ext cx="5943600" cy="1051560"/>
          </a:xfrm>
          <a:prstGeom prst="rect">
            <a:avLst/>
          </a:prstGeom>
          <a:solidFill>
            <a:srgbClr val="101010"/>
          </a:solidFill>
          <a:ln w="381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79392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🎯 命中即切换专属内容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6344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识别成功→"欢迎，张三！"→屏幕自动切换到该校友的成长轨迹与荣誉档案，个性化观展体验。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737360"/>
            <a:ext cx="4389120" cy="3657600"/>
          </a:xfrm>
          <a:prstGeom prst="rect">
            <a:avLst/>
          </a:prstGeom>
          <a:solidFill>
            <a:srgbClr val="080808"/>
          </a:solidFill>
          <a:ln w="635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286000"/>
            <a:ext cx="43891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0" b="1">
                <a:solidFill>
                  <a:srgbClr val="E6B450"/>
                </a:solidFill>
                <a:latin typeface="Arial"/>
              </a:defRPr>
            </a:pPr>
            <a:r>
              <a:t>&lt;1.5s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56616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0">
                <a:solidFill>
                  <a:srgbClr val="E6B450"/>
                </a:solidFill>
                <a:latin typeface="Arial"/>
              </a:defRPr>
            </a:pPr>
            <a:r>
              <a:t>端到端识别延迟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4114800"/>
            <a:ext cx="3840480" cy="347472"/>
          </a:xfrm>
          <a:prstGeom prst="rect">
            <a:avLst/>
          </a:prstGeom>
          <a:solidFill>
            <a:srgbClr val="151515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33087"/>
            <a:ext cx="34747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HIT → 自动切换专属轨迹轮播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4526280"/>
            <a:ext cx="3840480" cy="347472"/>
          </a:xfrm>
          <a:prstGeom prst="rect">
            <a:avLst/>
          </a:prstGeom>
          <a:solidFill>
            <a:srgbClr val="151515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544568"/>
            <a:ext cx="34747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NO_MATCH → 温和提示 → 回默认轮播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4937760"/>
            <a:ext cx="3840480" cy="347472"/>
          </a:xfrm>
          <a:prstGeom prst="rect">
            <a:avLst/>
          </a:prstGeom>
          <a:solidFill>
            <a:srgbClr val="151515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4956048"/>
            <a:ext cx="34747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DEGRADED → 静默降级，绝不空屏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6692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🔐 特征加密存储 · 不留原图 · 隐私合规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00800"/>
            <a:ext cx="11064240" cy="274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44444"/>
                </a:solidFill>
                <a:latin typeface="Arial"/>
              </a:defRPr>
            </a:pPr>
            <a:r>
              <a:t>校园展览馆校友资料系统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64465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444444"/>
                </a:solidFill>
                <a:latin typeface="Arial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8BFF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四层架构，职责清晰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10332720" cy="822960"/>
          </a:xfrm>
          <a:prstGeom prst="rect">
            <a:avLst/>
          </a:prstGeom>
          <a:solidFill>
            <a:srgbClr val="101010"/>
          </a:solidFill>
          <a:ln w="381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92808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8BFF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828800"/>
            <a:ext cx="1463040" cy="502920"/>
          </a:xfrm>
          <a:prstGeom prst="rect">
            <a:avLst/>
          </a:prstGeom>
          <a:solidFill>
            <a:srgbClr val="181818"/>
          </a:solidFill>
          <a:ln w="381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92024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8BFF"/>
                </a:solidFill>
                <a:latin typeface="Arial"/>
              </a:defRPr>
            </a:pPr>
            <a:r>
              <a:t>Vue 3 + Vite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1463040" cy="502920"/>
          </a:xfrm>
          <a:prstGeom prst="rect">
            <a:avLst/>
          </a:prstGeom>
          <a:solidFill>
            <a:srgbClr val="181818"/>
          </a:solidFill>
          <a:ln w="381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92024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8BFF"/>
                </a:solidFill>
                <a:latin typeface="Arial"/>
              </a:defRPr>
            </a:pPr>
            <a:r>
              <a:t>Element Plus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1463040" cy="502920"/>
          </a:xfrm>
          <a:prstGeom prst="rect">
            <a:avLst/>
          </a:prstGeom>
          <a:solidFill>
            <a:srgbClr val="181818"/>
          </a:solidFill>
          <a:ln w="381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92024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8BFF"/>
                </a:solidFill>
                <a:latin typeface="Arial"/>
              </a:defRPr>
            </a:pPr>
            <a:r>
              <a:t>Pinia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828800"/>
            <a:ext cx="1463040" cy="502920"/>
          </a:xfrm>
          <a:prstGeom prst="rect">
            <a:avLst/>
          </a:prstGeom>
          <a:solidFill>
            <a:srgbClr val="181818"/>
          </a:solidFill>
          <a:ln w="381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92024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8BFF"/>
                </a:solidFill>
                <a:latin typeface="Arial"/>
              </a:defRPr>
            </a:pPr>
            <a:r>
              <a:t>ECharts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828800"/>
            <a:ext cx="1463040" cy="502920"/>
          </a:xfrm>
          <a:prstGeom prst="rect">
            <a:avLst/>
          </a:prstGeom>
          <a:solidFill>
            <a:srgbClr val="181818"/>
          </a:solidFill>
          <a:ln w="381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92024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E8BFF"/>
                </a:solidFill>
                <a:latin typeface="Arial"/>
              </a:defRPr>
            </a:pPr>
            <a:r>
              <a:t>Axios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697480"/>
            <a:ext cx="10332720" cy="822960"/>
          </a:xfrm>
          <a:prstGeom prst="rect">
            <a:avLst/>
          </a:prstGeom>
          <a:solidFill>
            <a:srgbClr val="101010"/>
          </a:solidFill>
          <a:ln w="381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898648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6C5A6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834640"/>
            <a:ext cx="1463040" cy="502920"/>
          </a:xfrm>
          <a:prstGeom prst="rect">
            <a:avLst/>
          </a:prstGeom>
          <a:solidFill>
            <a:srgbClr val="080808"/>
          </a:solidFill>
          <a:ln w="381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9260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6C5A6"/>
                </a:solidFill>
                <a:latin typeface="Arial"/>
              </a:defRPr>
            </a:pPr>
            <a:r>
              <a:t>Spring Boot 3.x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834640"/>
            <a:ext cx="1463040" cy="502920"/>
          </a:xfrm>
          <a:prstGeom prst="rect">
            <a:avLst/>
          </a:prstGeom>
          <a:solidFill>
            <a:srgbClr val="080808"/>
          </a:solidFill>
          <a:ln w="381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9260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6C5A6"/>
                </a:solidFill>
                <a:latin typeface="Arial"/>
              </a:defRPr>
            </a:pPr>
            <a:r>
              <a:t>JDK 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834640"/>
            <a:ext cx="1463040" cy="502920"/>
          </a:xfrm>
          <a:prstGeom prst="rect">
            <a:avLst/>
          </a:prstGeom>
          <a:solidFill>
            <a:srgbClr val="080808"/>
          </a:solidFill>
          <a:ln w="381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9260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6C5A6"/>
                </a:solidFill>
                <a:latin typeface="Arial"/>
              </a:defRPr>
            </a:pPr>
            <a:r>
              <a:t>MyBatis-Plus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2834640"/>
            <a:ext cx="1463040" cy="502920"/>
          </a:xfrm>
          <a:prstGeom prst="rect">
            <a:avLst/>
          </a:prstGeom>
          <a:solidFill>
            <a:srgbClr val="080808"/>
          </a:solidFill>
          <a:ln w="381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29260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6C5A6"/>
                </a:solidFill>
                <a:latin typeface="Arial"/>
              </a:defRPr>
            </a:pPr>
            <a:r>
              <a:t>Spring Security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834640"/>
            <a:ext cx="1463040" cy="502920"/>
          </a:xfrm>
          <a:prstGeom prst="rect">
            <a:avLst/>
          </a:prstGeom>
          <a:solidFill>
            <a:srgbClr val="080808"/>
          </a:solidFill>
          <a:ln w="381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9260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6C5A6"/>
                </a:solidFill>
                <a:latin typeface="Arial"/>
              </a:defRPr>
            </a:pPr>
            <a:r>
              <a:t>JWT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703320"/>
            <a:ext cx="10332720" cy="822960"/>
          </a:xfrm>
          <a:prstGeom prst="rect">
            <a:avLst/>
          </a:prstGeom>
          <a:solidFill>
            <a:srgbClr val="101010"/>
          </a:solidFill>
          <a:ln w="381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904488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6B450"/>
                </a:solidFill>
                <a:latin typeface="Arial"/>
              </a:defRPr>
            </a:pPr>
            <a:r>
              <a:t>AI 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840480"/>
            <a:ext cx="1463040" cy="502920"/>
          </a:xfrm>
          <a:prstGeom prst="rect">
            <a:avLst/>
          </a:prstGeom>
          <a:solidFill>
            <a:srgbClr val="181818"/>
          </a:solidFill>
          <a:ln w="381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393192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E6B450"/>
                </a:solidFill>
                <a:latin typeface="Arial"/>
              </a:defRPr>
            </a:pPr>
            <a:r>
              <a:t>Python FastAPI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840480"/>
            <a:ext cx="1463040" cy="502920"/>
          </a:xfrm>
          <a:prstGeom prst="rect">
            <a:avLst/>
          </a:prstGeom>
          <a:solidFill>
            <a:srgbClr val="181818"/>
          </a:solidFill>
          <a:ln w="381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93192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E6B450"/>
                </a:solidFill>
                <a:latin typeface="Arial"/>
              </a:defRPr>
            </a:pPr>
            <a:r>
              <a:t>ArcSoft SDK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840480"/>
            <a:ext cx="1463040" cy="502920"/>
          </a:xfrm>
          <a:prstGeom prst="rect">
            <a:avLst/>
          </a:prstGeom>
          <a:solidFill>
            <a:srgbClr val="181818"/>
          </a:solidFill>
          <a:ln w="381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93192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E6B450"/>
                </a:solidFill>
                <a:latin typeface="Arial"/>
              </a:defRPr>
            </a:pPr>
            <a:r>
              <a:t>ctypes WinDLL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3840480"/>
            <a:ext cx="1463040" cy="502920"/>
          </a:xfrm>
          <a:prstGeom prst="rect">
            <a:avLst/>
          </a:prstGeom>
          <a:solidFill>
            <a:srgbClr val="181818"/>
          </a:solidFill>
          <a:ln w="381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393192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E6B450"/>
                </a:solidFill>
                <a:latin typeface="Arial"/>
              </a:defRPr>
            </a:pPr>
            <a:r>
              <a:t>1:N Matching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solidFill>
            <a:srgbClr val="101010"/>
          </a:solidFill>
          <a:ln w="38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910328"/>
            <a:ext cx="1463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4846320"/>
            <a:ext cx="1463040" cy="502920"/>
          </a:xfrm>
          <a:prstGeom prst="rect">
            <a:avLst/>
          </a:prstGeom>
          <a:solidFill>
            <a:srgbClr val="080808"/>
          </a:solidFill>
          <a:ln w="38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0" y="49377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B5CF6"/>
                </a:solidFill>
                <a:latin typeface="Arial"/>
              </a:defRPr>
            </a:pPr>
            <a:r>
              <a:t>MySQL 8.0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4846320"/>
            <a:ext cx="1463040" cy="502920"/>
          </a:xfrm>
          <a:prstGeom prst="rect">
            <a:avLst/>
          </a:prstGeom>
          <a:solidFill>
            <a:srgbClr val="080808"/>
          </a:solidFill>
          <a:ln w="38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49377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B5CF6"/>
                </a:solidFill>
                <a:latin typeface="Arial"/>
              </a:defRPr>
            </a:pPr>
            <a:r>
              <a:t>Redis 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4846320"/>
            <a:ext cx="1463040" cy="502920"/>
          </a:xfrm>
          <a:prstGeom prst="rect">
            <a:avLst/>
          </a:prstGeom>
          <a:solidFill>
            <a:srgbClr val="080808"/>
          </a:solidFill>
          <a:ln w="38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49377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B5CF6"/>
                </a:solidFill>
                <a:latin typeface="Arial"/>
              </a:defRPr>
            </a:pPr>
            <a:r>
              <a:t>MinIO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4846320"/>
            <a:ext cx="1463040" cy="502920"/>
          </a:xfrm>
          <a:prstGeom prst="rect">
            <a:avLst/>
          </a:prstGeom>
          <a:solidFill>
            <a:srgbClr val="080808"/>
          </a:solidFill>
          <a:ln w="38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493776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B5CF6"/>
                </a:solidFill>
                <a:latin typeface="Arial"/>
              </a:defRPr>
            </a:pPr>
            <a:r>
              <a:t>Docker Compose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54864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800" b="1">
                <a:solidFill>
                  <a:srgbClr val="1E8BFF"/>
                </a:solidFill>
                <a:latin typeface="Arial"/>
              </a:defRPr>
            </a:pPr>
            <a:r>
              <a:t>30+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989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54864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800" b="1">
                <a:solidFill>
                  <a:srgbClr val="36C5A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5989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Arial"/>
              </a:defRPr>
            </a:pPr>
            <a:r>
              <a:t>用户角色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4864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800" b="1">
                <a:solidFill>
                  <a:srgbClr val="E6B45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989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Arial"/>
              </a:defRPr>
            </a:pPr>
            <a:r>
              <a:t>技术语言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54864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800" b="1">
                <a:solidFill>
                  <a:srgbClr val="8B5CF6"/>
                </a:solidFill>
                <a:latin typeface="Arial"/>
              </a:defRPr>
            </a:pPr>
            <a:r>
              <a:t>1920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5989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99999"/>
                </a:solidFill>
                <a:latin typeface="Arial"/>
              </a:defRPr>
            </a:pPr>
            <a:r>
              <a:t>大屏分辨率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400800"/>
            <a:ext cx="11064240" cy="274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44444"/>
                </a:solidFill>
                <a:latin typeface="Arial"/>
              </a:defRPr>
            </a:pPr>
            <a:r>
              <a:t>校园展览馆校友资料系统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64465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444444"/>
                </a:solidFill>
                <a:latin typeface="Arial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E6B450"/>
                </a:solidFill>
                <a:latin typeface="Arial"/>
              </a:defRPr>
            </a:pPr>
            <a:r>
              <a:t>SCALE &amp;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731520"/>
            <a:ext cx="7772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全维度覆盖，数据驱动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18288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0" b="1">
                <a:solidFill>
                  <a:srgbClr val="E6B450"/>
                </a:solidFill>
                <a:latin typeface="Arial"/>
              </a:defRPr>
            </a:pPr>
            <a:r>
              <a:t>30+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REST API 端点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18288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0" b="1">
                <a:solidFill>
                  <a:srgbClr val="1E8B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功能模块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18288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0" b="1">
                <a:solidFill>
                  <a:srgbClr val="36C5A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审核状态流转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86000"/>
            <a:ext cx="18288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0" b="1">
                <a:solidFill>
                  <a:srgbClr val="8B5CF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8404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角色权限体系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846320"/>
            <a:ext cx="1828800" cy="777240"/>
          </a:xfrm>
          <a:prstGeom prst="rect">
            <a:avLst/>
          </a:prstGeom>
          <a:solidFill>
            <a:srgbClr val="080808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9377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99999"/>
                </a:solidFill>
                <a:latin typeface="Arial"/>
              </a:defRPr>
            </a:pPr>
            <a:r>
              <a:t>DATA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12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CCCCCC"/>
                </a:solidFill>
                <a:latin typeface="Arial"/>
              </a:defRPr>
            </a:pPr>
            <a:r>
              <a:t>12+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4846320"/>
            <a:ext cx="1828800" cy="777240"/>
          </a:xfrm>
          <a:prstGeom prst="rect">
            <a:avLst/>
          </a:prstGeom>
          <a:solidFill>
            <a:srgbClr val="080808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49377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99999"/>
                </a:solidFill>
                <a:latin typeface="Arial"/>
              </a:defRPr>
            </a:pPr>
            <a:r>
              <a:t>FRONTEND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212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CCCCCC"/>
                </a:solidFill>
                <a:latin typeface="Arial"/>
              </a:defRPr>
            </a:pPr>
            <a:r>
              <a:t>2 + 1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846320"/>
            <a:ext cx="1828800" cy="777240"/>
          </a:xfrm>
          <a:prstGeom prst="rect">
            <a:avLst/>
          </a:prstGeom>
          <a:solidFill>
            <a:srgbClr val="080808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9377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99999"/>
                </a:solidFill>
                <a:latin typeface="Arial"/>
              </a:defRPr>
            </a:pPr>
            <a:r>
              <a:t>JWT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12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CCCCCC"/>
                </a:solidFill>
                <a:latin typeface="Arial"/>
              </a:defRPr>
            </a:pPr>
            <a:r>
              <a:t>24h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4846320"/>
            <a:ext cx="1828800" cy="777240"/>
          </a:xfrm>
          <a:prstGeom prst="rect">
            <a:avLst/>
          </a:prstGeom>
          <a:solidFill>
            <a:srgbClr val="080808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49377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99999"/>
                </a:solidFill>
                <a:latin typeface="Arial"/>
              </a:defRPr>
            </a:pPr>
            <a:r>
              <a:t>CURRENT 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212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CCCCCC"/>
                </a:solidFill>
                <a:latin typeface="Arial"/>
              </a:defRPr>
            </a:pPr>
            <a:r>
              <a:t>v0.8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576072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0" b="1">
                <a:solidFill>
                  <a:srgbClr val="141414"/>
                </a:solidFill>
                <a:latin typeface="Arial"/>
              </a:defRPr>
            </a:pPr>
            <a:r>
              <a:t>30+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00800"/>
            <a:ext cx="11064240" cy="274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44444"/>
                </a:solidFill>
                <a:latin typeface="Arial"/>
              </a:defRPr>
            </a:pPr>
            <a:r>
              <a:t>校园展览馆校友资料系统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4465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444444"/>
                </a:solidFill>
                <a:latin typeface="Arial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8BFF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开箱即用，多场景适配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303520" cy="1965960"/>
          </a:xfrm>
          <a:prstGeom prst="rect">
            <a:avLst/>
          </a:prstGeom>
          <a:solidFill>
            <a:srgbClr val="080808"/>
          </a:solidFill>
          <a:ln w="381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303520" cy="7315"/>
          </a:xfrm>
          <a:prstGeom prst="rect">
            <a:avLst/>
          </a:prstGeom>
          <a:solidFill>
            <a:srgbClr val="1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8BFF"/>
                </a:solidFill>
                <a:latin typeface="Arial"/>
              </a:defRPr>
            </a:pPr>
            <a:r>
              <a:t>DOCKER 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docker compose up -d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MySQL 8.0 + Redis 7 + MinIO 一键启动。自动建表、初始化数据。健康检查通过即就绪。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645920"/>
            <a:ext cx="5303520" cy="1965960"/>
          </a:xfrm>
          <a:prstGeom prst="rect">
            <a:avLst/>
          </a:prstGeom>
          <a:solidFill>
            <a:srgbClr val="080808"/>
          </a:solidFill>
          <a:ln w="381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645920"/>
            <a:ext cx="5303520" cy="731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828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6B6D4"/>
                </a:solidFill>
                <a:latin typeface="Arial"/>
              </a:defRPr>
            </a:pPr>
            <a:r>
              <a:t>CHROME KIOSK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1945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chrome --kiosk --autoplay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74320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一体机全屏部署，禁用信息栏、崩溃气泡。强制自动播放，适合展厅无人值守场景。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303520" cy="1965960"/>
          </a:xfrm>
          <a:prstGeom prst="rect">
            <a:avLst/>
          </a:prstGeom>
          <a:solidFill>
            <a:srgbClr val="080808"/>
          </a:solidFill>
          <a:ln w="381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5303520" cy="7315"/>
          </a:xfrm>
          <a:prstGeom prst="rect">
            <a:avLst/>
          </a:prstGeom>
          <a:solidFill>
            <a:srgbClr val="36C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6C5A6"/>
                </a:solidFill>
                <a:latin typeface="Arial"/>
              </a:defRPr>
            </a:pPr>
            <a:r>
              <a:t>NGINX REVERSE PROXY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59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统一 80/443 端口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反向代理统一对外端口，启用HTTPS（摄像头需要安全上下文）。单域名对外服务。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3931920"/>
            <a:ext cx="5303520" cy="1965960"/>
          </a:xfrm>
          <a:prstGeom prst="rect">
            <a:avLst/>
          </a:prstGeom>
          <a:solidFill>
            <a:srgbClr val="080808"/>
          </a:solidFill>
          <a:ln w="381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931920"/>
            <a:ext cx="5303520" cy="7315"/>
          </a:xfrm>
          <a:prstGeom prst="rect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41148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6B450"/>
                </a:solidFill>
                <a:latin typeface="Arial"/>
              </a:defRPr>
            </a:pPr>
            <a:r>
              <a:t>FACE SERVICE · WIN X64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4480559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uvicorn main:app --port 8000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502920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Python FastAPI独立进程。ArcSoft SDK仅Windows x64可用。HTTP调用，与Java后端解耦。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00800"/>
            <a:ext cx="11064240" cy="274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44444"/>
                </a:solidFill>
                <a:latin typeface="Arial"/>
              </a:defRPr>
            </a:pPr>
            <a:r>
              <a:t>校园展览馆校友资料系统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64465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444444"/>
                </a:solidFill>
                <a:latin typeface="Arial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E6B450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三大核心应用场景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200400" cy="3840480"/>
          </a:xfrm>
          <a:prstGeom prst="rect">
            <a:avLst/>
          </a:prstGeom>
          <a:solidFill>
            <a:srgbClr val="080808"/>
          </a:solidFill>
          <a:ln w="381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18181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E8BFF"/>
                </a:solidFill>
                <a:latin typeface="Microsoft YaHei"/>
              </a:defRPr>
            </a:pPr>
            <a:r>
              <a:t>校庆 / 校友返校日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26517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老校友站到屏幕前，系统自动识别并展示他的在校经历与成就。专属荣誉墙让返校体验充满仪式感。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3200400" cy="3840480"/>
          </a:xfrm>
          <a:prstGeom prst="rect">
            <a:avLst/>
          </a:prstGeom>
          <a:solidFill>
            <a:srgbClr val="080808"/>
          </a:solidFill>
          <a:ln w="381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18181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92608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E6B450"/>
                </a:solidFill>
                <a:latin typeface="Microsoft YaHei"/>
              </a:defRPr>
            </a:pPr>
            <a:r>
              <a:t>招生宣传 / 开放日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566160"/>
            <a:ext cx="26517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家长与考生浏览校友成就，AI互动体验彰显学校科技实力。数据驱动的展览内容增强报考信心。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200400" cy="3840480"/>
          </a:xfrm>
          <a:prstGeom prst="rect">
            <a:avLst/>
          </a:prstGeom>
          <a:solidFill>
            <a:srgbClr val="080808"/>
          </a:solidFill>
          <a:ln w="3810">
            <a:solidFill>
              <a:srgbClr val="36C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18181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92608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36C5A6"/>
                </a:solidFill>
                <a:latin typeface="Microsoft YaHei"/>
              </a:defRPr>
            </a:pPr>
            <a:r>
              <a:t>常设校史展览馆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566160"/>
            <a:ext cx="26517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999999"/>
                </a:solidFill>
                <a:latin typeface="Microsoft YaHei"/>
              </a:defRPr>
            </a:pPr>
            <a:r>
              <a:t>7×24小时无人值守运行。内容通过后台实时更新，告别展板更换成本。轮播+搜索+人脸交互三模式。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00800"/>
            <a:ext cx="11064240" cy="274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44444"/>
                </a:solidFill>
                <a:latin typeface="Arial"/>
              </a:defRPr>
            </a:pPr>
            <a:r>
              <a:t>校园展览馆校友资料系统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4465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444444"/>
                </a:solidFill>
                <a:latin typeface="Arial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3657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E6B450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0972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E6B450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645920"/>
            <a:ext cx="6858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4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3017520"/>
            <a:ext cx="1645920" cy="4572"/>
          </a:xfrm>
          <a:prstGeom prst="rect">
            <a:avLst/>
          </a:prstGeom>
          <a:solidFill>
            <a:srgbClr val="E6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291840"/>
            <a:ext cx="7772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校园展览馆校友资料系统 — 让每一份校友成就，在展览馆中被看见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389120"/>
            <a:ext cx="2286000" cy="685800"/>
          </a:xfrm>
          <a:prstGeom prst="rect">
            <a:avLst/>
          </a:prstGeom>
          <a:solidFill>
            <a:srgbClr val="080808"/>
          </a:solidFill>
          <a:ln w="6350">
            <a:solidFill>
              <a:srgbClr val="E6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4348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E6B450"/>
                </a:solidFill>
                <a:latin typeface="Arial"/>
              </a:defRPr>
            </a:pPr>
            <a:r>
              <a:t>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8172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福州软件职业技术学院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389120"/>
            <a:ext cx="2743200" cy="685800"/>
          </a:xfrm>
          <a:prstGeom prst="rect">
            <a:avLst/>
          </a:prstGeom>
          <a:solidFill>
            <a:srgbClr val="080808"/>
          </a:solidFill>
          <a:ln w="6350">
            <a:solidFill>
              <a:srgbClr val="1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E8BFF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817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Spring Boot 3 · Vue 3 · ArcFace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943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0" b="1">
                <a:solidFill>
                  <a:srgbClr val="181818"/>
                </a:solidFill>
                <a:latin typeface="Arial"/>
              </a:defRPr>
            </a:pPr>
            <a:r>
              <a:t>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00800"/>
            <a:ext cx="11064240" cy="2743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44444"/>
                </a:solidFill>
                <a:latin typeface="Arial"/>
              </a:defRPr>
            </a:pPr>
            <a:r>
              <a:t>校园展览馆校友资料系统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4465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444444"/>
                </a:solidFill>
                <a:latin typeface="Arial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